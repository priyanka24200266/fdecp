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KA KARUPPUSAMY" userId="66f58397-e9ce-44f4-8513-bc4a17565f9c" providerId="ADAL" clId="{500F5F15-1FD7-4E4D-9006-78B399F94583}"/>
    <pc:docChg chg="undo custSel modSld">
      <pc:chgData name="PRIYANKA KARUPPUSAMY" userId="66f58397-e9ce-44f4-8513-bc4a17565f9c" providerId="ADAL" clId="{500F5F15-1FD7-4E4D-9006-78B399F94583}" dt="2026-09-29T10:33:54.412" v="76" actId="729"/>
      <pc:docMkLst>
        <pc:docMk/>
      </pc:docMkLst>
      <pc:sldChg chg="delSp modSp mod">
        <pc:chgData name="PRIYANKA KARUPPUSAMY" userId="66f58397-e9ce-44f4-8513-bc4a17565f9c" providerId="ADAL" clId="{500F5F15-1FD7-4E4D-9006-78B399F94583}" dt="2026-09-29T05:22:01.530" v="45" actId="255"/>
        <pc:sldMkLst>
          <pc:docMk/>
          <pc:sldMk cId="0" sldId="256"/>
        </pc:sldMkLst>
        <pc:spChg chg="mod">
          <ac:chgData name="PRIYANKA KARUPPUSAMY" userId="66f58397-e9ce-44f4-8513-bc4a17565f9c" providerId="ADAL" clId="{500F5F15-1FD7-4E4D-9006-78B399F94583}" dt="2026-09-29T05:21:41.592" v="32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PRIYANKA KARUPPUSAMY" userId="66f58397-e9ce-44f4-8513-bc4a17565f9c" providerId="ADAL" clId="{500F5F15-1FD7-4E4D-9006-78B399F94583}" dt="2026-09-29T05:22:01.530" v="45" actId="255"/>
          <ac:spMkLst>
            <pc:docMk/>
            <pc:sldMk cId="0" sldId="256"/>
            <ac:spMk id="9" creationId="{00000000-0000-0000-0000-000000000000}"/>
          </ac:spMkLst>
        </pc:spChg>
        <pc:spChg chg="del">
          <ac:chgData name="PRIYANKA KARUPPUSAMY" userId="66f58397-e9ce-44f4-8513-bc4a17565f9c" providerId="ADAL" clId="{500F5F15-1FD7-4E4D-9006-78B399F94583}" dt="2026-09-29T05:21:13.440" v="0" actId="478"/>
          <ac:spMkLst>
            <pc:docMk/>
            <pc:sldMk cId="0" sldId="256"/>
            <ac:spMk id="10" creationId="{00000000-0000-0000-0000-000000000000}"/>
          </ac:spMkLst>
        </pc:spChg>
      </pc:sldChg>
      <pc:sldChg chg="delSp modSp mod">
        <pc:chgData name="PRIYANKA KARUPPUSAMY" userId="66f58397-e9ce-44f4-8513-bc4a17565f9c" providerId="ADAL" clId="{500F5F15-1FD7-4E4D-9006-78B399F94583}" dt="2026-09-29T09:43:06.125" v="67" actId="478"/>
        <pc:sldMkLst>
          <pc:docMk/>
          <pc:sldMk cId="0" sldId="257"/>
        </pc:sldMkLst>
        <pc:spChg chg="del">
          <ac:chgData name="PRIYANKA KARUPPUSAMY" userId="66f58397-e9ce-44f4-8513-bc4a17565f9c" providerId="ADAL" clId="{500F5F15-1FD7-4E4D-9006-78B399F94583}" dt="2026-09-29T09:43:06.125" v="67" actId="478"/>
          <ac:spMkLst>
            <pc:docMk/>
            <pc:sldMk cId="0" sldId="257"/>
            <ac:spMk id="29" creationId="{00000000-0000-0000-0000-000000000000}"/>
          </ac:spMkLst>
        </pc:spChg>
        <pc:spChg chg="mod">
          <ac:chgData name="PRIYANKA KARUPPUSAMY" userId="66f58397-e9ce-44f4-8513-bc4a17565f9c" providerId="ADAL" clId="{500F5F15-1FD7-4E4D-9006-78B399F94583}" dt="2026-09-29T09:43:02.670" v="66" actId="20577"/>
          <ac:spMkLst>
            <pc:docMk/>
            <pc:sldMk cId="0" sldId="257"/>
            <ac:spMk id="30" creationId="{00000000-0000-0000-0000-000000000000}"/>
          </ac:spMkLst>
        </pc:spChg>
        <pc:spChg chg="del">
          <ac:chgData name="PRIYANKA KARUPPUSAMY" userId="66f58397-e9ce-44f4-8513-bc4a17565f9c" providerId="ADAL" clId="{500F5F15-1FD7-4E4D-9006-78B399F94583}" dt="2026-09-29T09:43:00.561" v="65" actId="478"/>
          <ac:spMkLst>
            <pc:docMk/>
            <pc:sldMk cId="0" sldId="257"/>
            <ac:spMk id="31" creationId="{00000000-0000-0000-0000-000000000000}"/>
          </ac:spMkLst>
        </pc:spChg>
      </pc:sldChg>
      <pc:sldChg chg="addSp delSp modSp mod">
        <pc:chgData name="PRIYANKA KARUPPUSAMY" userId="66f58397-e9ce-44f4-8513-bc4a17565f9c" providerId="ADAL" clId="{500F5F15-1FD7-4E4D-9006-78B399F94583}" dt="2026-09-29T10:33:43.751" v="75" actId="478"/>
        <pc:sldMkLst>
          <pc:docMk/>
          <pc:sldMk cId="0" sldId="259"/>
        </pc:sldMkLst>
        <pc:spChg chg="add del">
          <ac:chgData name="PRIYANKA KARUPPUSAMY" userId="66f58397-e9ce-44f4-8513-bc4a17565f9c" providerId="ADAL" clId="{500F5F15-1FD7-4E4D-9006-78B399F94583}" dt="2026-09-29T10:33:43.751" v="75" actId="478"/>
          <ac:spMkLst>
            <pc:docMk/>
            <pc:sldMk cId="0" sldId="259"/>
            <ac:spMk id="28" creationId="{00000000-0000-0000-0000-000000000000}"/>
          </ac:spMkLst>
        </pc:spChg>
        <pc:spChg chg="mod">
          <ac:chgData name="PRIYANKA KARUPPUSAMY" userId="66f58397-e9ce-44f4-8513-bc4a17565f9c" providerId="ADAL" clId="{500F5F15-1FD7-4E4D-9006-78B399F94583}" dt="2026-09-29T05:34:29.470" v="61" actId="20577"/>
          <ac:spMkLst>
            <pc:docMk/>
            <pc:sldMk cId="0" sldId="259"/>
            <ac:spMk id="43" creationId="{00000000-0000-0000-0000-000000000000}"/>
          </ac:spMkLst>
        </pc:spChg>
        <pc:spChg chg="add del mod">
          <ac:chgData name="PRIYANKA KARUPPUSAMY" userId="66f58397-e9ce-44f4-8513-bc4a17565f9c" providerId="ADAL" clId="{500F5F15-1FD7-4E4D-9006-78B399F94583}" dt="2026-09-29T10:33:42.753" v="74" actId="22"/>
          <ac:spMkLst>
            <pc:docMk/>
            <pc:sldMk cId="0" sldId="259"/>
            <ac:spMk id="45" creationId="{B7D554B3-B610-4755-2C4B-F0751A4A43ED}"/>
          </ac:spMkLst>
        </pc:spChg>
      </pc:sldChg>
      <pc:sldChg chg="mod modShow">
        <pc:chgData name="PRIYANKA KARUPPUSAMY" userId="66f58397-e9ce-44f4-8513-bc4a17565f9c" providerId="ADAL" clId="{500F5F15-1FD7-4E4D-9006-78B399F94583}" dt="2026-09-29T10:33:54.412" v="76" actId="729"/>
        <pc:sldMkLst>
          <pc:docMk/>
          <pc:sldMk cId="0" sldId="261"/>
        </pc:sldMkLst>
      </pc:sldChg>
      <pc:sldChg chg="mod modShow">
        <pc:chgData name="PRIYANKA KARUPPUSAMY" userId="66f58397-e9ce-44f4-8513-bc4a17565f9c" providerId="ADAL" clId="{500F5F15-1FD7-4E4D-9006-78B399F94583}" dt="2026-09-29T08:37:56.519" v="64" actId="729"/>
        <pc:sldMkLst>
          <pc:docMk/>
          <pc:sldMk cId="0" sldId="262"/>
        </pc:sldMkLst>
      </pc:sldChg>
      <pc:sldChg chg="modSp mod">
        <pc:chgData name="PRIYANKA KARUPPUSAMY" userId="66f58397-e9ce-44f4-8513-bc4a17565f9c" providerId="ADAL" clId="{500F5F15-1FD7-4E4D-9006-78B399F94583}" dt="2026-09-29T06:10:28.195" v="63" actId="1076"/>
        <pc:sldMkLst>
          <pc:docMk/>
          <pc:sldMk cId="0" sldId="264"/>
        </pc:sldMkLst>
        <pc:spChg chg="mod">
          <ac:chgData name="PRIYANKA KARUPPUSAMY" userId="66f58397-e9ce-44f4-8513-bc4a17565f9c" providerId="ADAL" clId="{500F5F15-1FD7-4E4D-9006-78B399F94583}" dt="2026-09-29T06:10:28.195" v="63" actId="1076"/>
          <ac:spMkLst>
            <pc:docMk/>
            <pc:sldMk cId="0" sldId="264"/>
            <ac:spMk id="47" creationId="{00000000-0000-0000-0000-000000000000}"/>
          </ac:spMkLst>
        </pc:spChg>
        <pc:spChg chg="mod">
          <ac:chgData name="PRIYANKA KARUPPUSAMY" userId="66f58397-e9ce-44f4-8513-bc4a17565f9c" providerId="ADAL" clId="{500F5F15-1FD7-4E4D-9006-78B399F94583}" dt="2026-09-29T06:10:25.179" v="62" actId="1076"/>
          <ac:spMkLst>
            <pc:docMk/>
            <pc:sldMk cId="0" sldId="264"/>
            <ac:spMk id="5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B"/>
          </a:solidFill>
          <a:ln w="10160">
            <a:solidFill>
              <a:srgbClr val="0B1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112C3F"/>
          </a:solidFill>
          <a:ln w="10160">
            <a:solidFill>
              <a:srgbClr val="112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4937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9D3CA"/>
                </a:solidFill>
                <a:latin typeface="Aptos"/>
              </a:rPr>
              <a:t>UC007  /  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25296"/>
            <a:ext cx="7040880" cy="1389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 Display"/>
              </a:rPr>
              <a:t>Claims Processing
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999232"/>
            <a:ext cx="626364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CEE2E4"/>
                </a:solidFill>
                <a:latin typeface="Aptos"/>
              </a:rPr>
              <a:t>AI prepares claims, rules validate evidence, humans make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5006054"/>
            <a:ext cx="3877056" cy="974122"/>
          </a:xfrm>
          <a:prstGeom prst="roundRect">
            <a:avLst>
              <a:gd name="adj" fmla="val 8000"/>
            </a:avLst>
          </a:prstGeom>
          <a:solidFill>
            <a:srgbClr val="183948"/>
          </a:solidFill>
          <a:ln w="10160">
            <a:solidFill>
              <a:srgbClr val="325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73836" y="5189506"/>
            <a:ext cx="3332988" cy="6894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IN" sz="2000" b="1" i="0" dirty="0">
                <a:solidFill>
                  <a:srgbClr val="59D3CA"/>
                </a:solidFill>
                <a:latin typeface="Aptos"/>
              </a:rPr>
              <a:t>PRIYANKA KARUPPUSAMY FDEUSER41</a:t>
            </a:r>
            <a:endParaRPr sz="2000" b="1" i="0" dirty="0">
              <a:solidFill>
                <a:srgbClr val="59D3CA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549640" y="1508760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1A3F4C"/>
          </a:solidFill>
          <a:ln w="10160">
            <a:solidFill>
              <a:srgbClr val="315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49640" y="1508760"/>
            <a:ext cx="109728" cy="566928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51392" y="1673351"/>
            <a:ext cx="1737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38360" y="2084831"/>
            <a:ext cx="0" cy="320041"/>
          </a:xfrm>
          <a:prstGeom prst="line">
            <a:avLst/>
          </a:prstGeom>
          <a:ln w="19050">
            <a:solidFill>
              <a:srgbClr val="59D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28632" y="2212848"/>
            <a:ext cx="228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59D3CA"/>
                </a:solidFill>
                <a:latin typeface="Aptos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2423160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1A3F4C"/>
          </a:solidFill>
          <a:ln w="10160">
            <a:solidFill>
              <a:srgbClr val="315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49640" y="2423160"/>
            <a:ext cx="109728" cy="566928"/>
          </a:xfrm>
          <a:prstGeom prst="roundRect">
            <a:avLst>
              <a:gd name="adj" fmla="val 8000"/>
            </a:avLst>
          </a:prstGeom>
          <a:solidFill>
            <a:srgbClr val="F29134"/>
          </a:solidFill>
          <a:ln w="10160">
            <a:solidFill>
              <a:srgbClr val="F2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51392" y="2587752"/>
            <a:ext cx="1737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RULES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38360" y="2999232"/>
            <a:ext cx="0" cy="320040"/>
          </a:xfrm>
          <a:prstGeom prst="line">
            <a:avLst/>
          </a:prstGeom>
          <a:ln w="19050">
            <a:solidFill>
              <a:srgbClr val="59D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628632" y="3127248"/>
            <a:ext cx="228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59D3CA"/>
                </a:solidFill>
                <a:latin typeface="Aptos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3337560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1A3F4C"/>
          </a:solidFill>
          <a:ln w="10160">
            <a:solidFill>
              <a:srgbClr val="315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549640" y="3337560"/>
            <a:ext cx="109728" cy="566928"/>
          </a:xfrm>
          <a:prstGeom prst="roundRect">
            <a:avLst>
              <a:gd name="adj" fmla="val 8000"/>
            </a:avLst>
          </a:prstGeom>
          <a:solidFill>
            <a:srgbClr val="59D3CA"/>
          </a:solidFill>
          <a:ln w="10160">
            <a:solidFill>
              <a:srgbClr val="5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51392" y="3502152"/>
            <a:ext cx="1737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HUMAN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6291072"/>
            <a:ext cx="6217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92B2BB"/>
                </a:solidFill>
                <a:latin typeface="Aptos"/>
              </a:rPr>
              <a:t>Claims workspace  |  Evidence-grounded preparation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16768" y="6473952"/>
            <a:ext cx="914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9D3CA"/>
                </a:solidFill>
                <a:latin typeface="Aptos"/>
              </a:rPr>
              <a:t>UC007  /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9BA0"/>
                </a:solidFill>
                <a:latin typeface="Aptos"/>
              </a:rPr>
              <a:t>THE OPERATING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9848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B192B"/>
                </a:solidFill>
                <a:latin typeface="Aptos Display"/>
              </a:rPr>
              <a:t>Claims arrive as evidence, not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515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07180"/>
                </a:solidFill>
                <a:latin typeface="Aptos"/>
              </a:rPr>
              <a:t>Handlers must turn mixed documents and photographs into a defensible preparation 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73952"/>
            <a:ext cx="914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07180"/>
                </a:solidFill>
                <a:latin typeface="Aptos"/>
              </a:rPr>
              <a:t>UC007  /  02</a:t>
            </a:r>
          </a:p>
        </p:txBody>
      </p:sp>
      <p:pic>
        <p:nvPicPr>
          <p:cNvPr id="8" name="Picture 7" descr="rear-bumper-dent-close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08" y="1719072"/>
            <a:ext cx="3401568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65008" y="1719072"/>
            <a:ext cx="3401568" cy="2057400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9872" y="3849624"/>
            <a:ext cx="32461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1">
                <a:solidFill>
                  <a:srgbClr val="607180"/>
                </a:solidFill>
                <a:latin typeface="Aptos"/>
              </a:rPr>
              <a:t>Damage photograph from sample claim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83080"/>
            <a:ext cx="3246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783080"/>
            <a:ext cx="64008" cy="1417320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1938528"/>
            <a:ext cx="289864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B192B"/>
                </a:solidFill>
                <a:latin typeface="Aptos"/>
              </a:rPr>
              <a:t>Mixed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67712"/>
            <a:ext cx="2898648" cy="8138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 dirty="0">
                <a:solidFill>
                  <a:srgbClr val="607180"/>
                </a:solidFill>
                <a:latin typeface="Aptos"/>
              </a:rPr>
              <a:t>Claim forms, policy schedules, repair estimates, statements, police reports, invoices and photographs arrive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783080"/>
            <a:ext cx="3246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160520" y="1783080"/>
            <a:ext cx="64008" cy="1417320"/>
          </a:xfrm>
          <a:prstGeom prst="roundRect">
            <a:avLst>
              <a:gd name="adj" fmla="val 8000"/>
            </a:avLst>
          </a:prstGeom>
          <a:solidFill>
            <a:srgbClr val="F29134"/>
          </a:solidFill>
          <a:ln w="10160">
            <a:solidFill>
              <a:srgbClr val="F2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61688" y="1938528"/>
            <a:ext cx="289864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B192B"/>
                </a:solidFill>
                <a:latin typeface="Aptos"/>
              </a:rPr>
              <a:t>Manual verification 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267712"/>
            <a:ext cx="2898648" cy="8138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07180"/>
                </a:solidFill>
                <a:latin typeface="Aptos"/>
              </a:rPr>
              <a:t>Handlers must compare facts across sources before a claim can move forward.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794760"/>
            <a:ext cx="6766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0B192B"/>
                </a:solidFill>
                <a:latin typeface="Aptos"/>
              </a:rPr>
              <a:t>The handler needs a consistent preparation layer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315968"/>
            <a:ext cx="1078992" cy="274320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" y="4366259"/>
            <a:ext cx="969264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COMPLETE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4343400"/>
            <a:ext cx="5166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82534"/>
                </a:solidFill>
                <a:latin typeface="Aptos"/>
              </a:rPr>
              <a:t>Are required documents present?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754879"/>
            <a:ext cx="1078992" cy="274320"/>
          </a:xfrm>
          <a:prstGeom prst="roundRect">
            <a:avLst>
              <a:gd name="adj" fmla="val 8000"/>
            </a:avLst>
          </a:prstGeom>
          <a:solidFill>
            <a:srgbClr val="F29134"/>
          </a:solidFill>
          <a:ln w="10160">
            <a:solidFill>
              <a:srgbClr val="F2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" y="4805171"/>
            <a:ext cx="969264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CONSISTENT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75104" y="4782312"/>
            <a:ext cx="5166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82534"/>
                </a:solidFill>
                <a:latin typeface="Aptos"/>
              </a:rPr>
              <a:t>Do dates, VINs and damage locations agree?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193792"/>
            <a:ext cx="1078992" cy="274320"/>
          </a:xfrm>
          <a:prstGeom prst="roundRect">
            <a:avLst>
              <a:gd name="adj" fmla="val 8000"/>
            </a:avLst>
          </a:prstGeom>
          <a:solidFill>
            <a:srgbClr val="3E976C"/>
          </a:solidFill>
          <a:ln w="10160">
            <a:solidFill>
              <a:srgbClr val="3E9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5244083"/>
            <a:ext cx="969264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COVERED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75104" y="5221224"/>
            <a:ext cx="51663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82534"/>
                </a:solidFill>
                <a:latin typeface="Aptos"/>
              </a:rPr>
              <a:t>Does the policy support the reported loss?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5682996"/>
            <a:ext cx="969264" cy="19697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1" i="0" dirty="0">
                <a:solidFill>
                  <a:srgbClr val="FFFFFF"/>
                </a:solidFill>
                <a:latin typeface="Aptos"/>
              </a:rPr>
              <a:t>RISK-AARE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9BA0"/>
                </a:solidFill>
                <a:latin typeface="Aptos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9848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B192B"/>
                </a:solidFill>
                <a:latin typeface="Aptos Display"/>
              </a:rPr>
              <a:t>A staged pipeline with clear accountability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515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07180"/>
                </a:solidFill>
                <a:latin typeface="Aptos"/>
              </a:rPr>
              <a:t>AI extracts and explains; deterministic rules validate; an authorised handler remains the decision-maker.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73952"/>
            <a:ext cx="914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07180"/>
                </a:solidFill>
                <a:latin typeface="Aptos"/>
              </a:rPr>
              <a:t>UC007  / 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73352"/>
            <a:ext cx="47091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673352"/>
            <a:ext cx="109728" cy="384048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" y="1746504"/>
            <a:ext cx="1691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B192B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0904" y="1746504"/>
            <a:ext cx="2487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07180"/>
                </a:solidFill>
                <a:latin typeface="Aptos"/>
              </a:rPr>
              <a:t>React workspace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08376" y="2066544"/>
            <a:ext cx="0" cy="109728"/>
          </a:xfrm>
          <a:prstGeom prst="line">
            <a:avLst/>
          </a:prstGeom>
          <a:ln w="17780">
            <a:solidFill>
              <a:srgbClr val="D2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07792" y="2057400"/>
            <a:ext cx="20116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009BA0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185416"/>
            <a:ext cx="47091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2185416"/>
            <a:ext cx="109728" cy="384048"/>
          </a:xfrm>
          <a:prstGeom prst="roundRect">
            <a:avLst>
              <a:gd name="adj" fmla="val 8000"/>
            </a:avLst>
          </a:prstGeom>
          <a:solidFill>
            <a:srgbClr val="59D3CA"/>
          </a:solidFill>
          <a:ln w="10160">
            <a:solidFill>
              <a:srgbClr val="5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1691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B192B"/>
                </a:solidFill>
                <a:latin typeface="Aptos"/>
              </a:rPr>
              <a:t>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0904" y="2258568"/>
            <a:ext cx="2487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07180"/>
                </a:solidFill>
                <a:latin typeface="Aptos"/>
              </a:rPr>
              <a:t>FastAPI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08376" y="2578608"/>
            <a:ext cx="0" cy="109728"/>
          </a:xfrm>
          <a:prstGeom prst="line">
            <a:avLst/>
          </a:prstGeom>
          <a:ln w="17780">
            <a:solidFill>
              <a:srgbClr val="D2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907792" y="2569464"/>
            <a:ext cx="20116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009BA0"/>
                </a:solidFill>
                <a:latin typeface="Aptos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697480"/>
            <a:ext cx="47091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8368" y="2697480"/>
            <a:ext cx="109728" cy="384048"/>
          </a:xfrm>
          <a:prstGeom prst="roundRect">
            <a:avLst>
              <a:gd name="adj" fmla="val 8000"/>
            </a:avLst>
          </a:prstGeom>
          <a:solidFill>
            <a:srgbClr val="F29134"/>
          </a:solidFill>
          <a:ln w="10160">
            <a:solidFill>
              <a:srgbClr val="F2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5256" y="2770632"/>
            <a:ext cx="1691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B192B"/>
                </a:solidFill>
                <a:latin typeface="Aptos"/>
              </a:rPr>
              <a:t>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60904" y="2770632"/>
            <a:ext cx="2487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07180"/>
                </a:solidFill>
                <a:latin typeface="Aptos"/>
              </a:rPr>
              <a:t>background orchestration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08376" y="3090672"/>
            <a:ext cx="0" cy="109728"/>
          </a:xfrm>
          <a:prstGeom prst="line">
            <a:avLst/>
          </a:prstGeom>
          <a:ln w="17780">
            <a:solidFill>
              <a:srgbClr val="D2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907792" y="3081528"/>
            <a:ext cx="20116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009BA0"/>
                </a:solidFill>
                <a:latin typeface="Aptos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209544"/>
            <a:ext cx="47091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8368" y="3209544"/>
            <a:ext cx="109728" cy="384048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5256" y="3282696"/>
            <a:ext cx="1691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B192B"/>
                </a:solidFill>
                <a:latin typeface="Aptos"/>
              </a:rPr>
              <a:t>Document Extraction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60904" y="3282696"/>
            <a:ext cx="2487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07180"/>
                </a:solidFill>
                <a:latin typeface="Aptos"/>
              </a:rPr>
              <a:t>fields + confidence + source span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008376" y="3602736"/>
            <a:ext cx="0" cy="109728"/>
          </a:xfrm>
          <a:prstGeom prst="line">
            <a:avLst/>
          </a:prstGeom>
          <a:ln w="17780">
            <a:solidFill>
              <a:srgbClr val="D2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907792" y="3593592"/>
            <a:ext cx="20116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009BA0"/>
                </a:solidFill>
                <a:latin typeface="Aptos"/>
              </a:rP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721608"/>
            <a:ext cx="47091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58368" y="3721608"/>
            <a:ext cx="109728" cy="384048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5256" y="3794760"/>
            <a:ext cx="1691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B192B"/>
                </a:solidFill>
                <a:latin typeface="Aptos"/>
              </a:rPr>
              <a:t>Vision Processing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60904" y="3794760"/>
            <a:ext cx="2487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07180"/>
                </a:solidFill>
                <a:latin typeface="Aptos"/>
              </a:rPr>
              <a:t>damage + repair band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08376" y="4114800"/>
            <a:ext cx="0" cy="109728"/>
          </a:xfrm>
          <a:prstGeom prst="line">
            <a:avLst/>
          </a:prstGeom>
          <a:ln w="17780">
            <a:solidFill>
              <a:srgbClr val="D2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07792" y="4105656"/>
            <a:ext cx="20116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009BA0"/>
                </a:solidFill>
                <a:latin typeface="Aptos"/>
              </a:rPr>
              <a:t>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233672"/>
            <a:ext cx="47091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58368" y="4233672"/>
            <a:ext cx="109728" cy="384048"/>
          </a:xfrm>
          <a:prstGeom prst="roundRect">
            <a:avLst>
              <a:gd name="adj" fmla="val 8000"/>
            </a:avLst>
          </a:prstGeom>
          <a:solidFill>
            <a:srgbClr val="F29134"/>
          </a:solidFill>
          <a:ln w="10160">
            <a:solidFill>
              <a:srgbClr val="F2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5256" y="4306824"/>
            <a:ext cx="1691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B192B"/>
                </a:solidFill>
                <a:latin typeface="Aptos"/>
              </a:rPr>
              <a:t>Validation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0904" y="4306824"/>
            <a:ext cx="2487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07180"/>
                </a:solidFill>
                <a:latin typeface="Aptos"/>
              </a:rPr>
              <a:t>evidence-citing rules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08376" y="4626864"/>
            <a:ext cx="0" cy="109728"/>
          </a:xfrm>
          <a:prstGeom prst="line">
            <a:avLst/>
          </a:prstGeom>
          <a:ln w="17780">
            <a:solidFill>
              <a:srgbClr val="D2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907792" y="4617720"/>
            <a:ext cx="20116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009BA0"/>
                </a:solidFill>
                <a:latin typeface="Aptos"/>
              </a:rPr>
              <a:t>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4745736"/>
            <a:ext cx="47091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58368" y="4745736"/>
            <a:ext cx="109728" cy="384048"/>
          </a:xfrm>
          <a:prstGeom prst="roundRect">
            <a:avLst>
              <a:gd name="adj" fmla="val 8000"/>
            </a:avLst>
          </a:prstGeom>
          <a:solidFill>
            <a:srgbClr val="59D3CA"/>
          </a:solidFill>
          <a:ln w="10160">
            <a:solidFill>
              <a:srgbClr val="5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5256" y="4818888"/>
            <a:ext cx="1691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B192B"/>
                </a:solidFill>
                <a:latin typeface="Aptos"/>
              </a:rPr>
              <a:t>Claims 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60904" y="4818888"/>
            <a:ext cx="2487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07180"/>
                </a:solidFill>
                <a:latin typeface="Aptos"/>
              </a:rPr>
              <a:t>policy-grounded summary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008376" y="5138928"/>
            <a:ext cx="0" cy="109728"/>
          </a:xfrm>
          <a:prstGeom prst="line">
            <a:avLst/>
          </a:prstGeom>
          <a:ln w="17780">
            <a:solidFill>
              <a:srgbClr val="D2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907792" y="5129784"/>
            <a:ext cx="20116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009BA0"/>
                </a:solidFill>
                <a:latin typeface="Aptos"/>
              </a:rPr>
              <a:t>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5257800"/>
            <a:ext cx="47091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58368" y="5257800"/>
            <a:ext cx="109728" cy="384048"/>
          </a:xfrm>
          <a:prstGeom prst="roundRect">
            <a:avLst>
              <a:gd name="adj" fmla="val 8000"/>
            </a:avLst>
          </a:prstGeom>
          <a:solidFill>
            <a:srgbClr val="3E976C"/>
          </a:solidFill>
          <a:ln w="10160">
            <a:solidFill>
              <a:srgbClr val="3E9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05256" y="5330952"/>
            <a:ext cx="16916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B192B"/>
                </a:solidFill>
                <a:latin typeface="Aptos"/>
              </a:rPr>
              <a:t>Human Review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60904" y="5330952"/>
            <a:ext cx="2487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07180"/>
                </a:solidFill>
                <a:latin typeface="Aptos"/>
              </a:rPr>
              <a:t>accept / amend / reject preparation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1700784"/>
            <a:ext cx="4983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07180"/>
                </a:solidFill>
                <a:latin typeface="Aptos"/>
              </a:rPr>
              <a:t>ACCOUNTABILITY LAYERS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44768" y="2057400"/>
            <a:ext cx="1828800" cy="1874519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 w="10160">
            <a:solidFill>
              <a:srgbClr val="F1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6144768" y="2057400"/>
            <a:ext cx="64008" cy="1874519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45936" y="2212848"/>
            <a:ext cx="148132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B192B"/>
                </a:solidFill>
                <a:latin typeface="Aptos"/>
              </a:rPr>
              <a:t>AI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45936" y="2542032"/>
            <a:ext cx="1481328" cy="12710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07180"/>
                </a:solidFill>
                <a:latin typeface="Aptos"/>
              </a:rPr>
              <a:t>Extraction
Image analysis
Summarisation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65592" y="2057400"/>
            <a:ext cx="1828800" cy="1874519"/>
          </a:xfrm>
          <a:prstGeom prst="roundRect">
            <a:avLst>
              <a:gd name="adj" fmla="val 8000"/>
            </a:avLst>
          </a:prstGeom>
          <a:solidFill>
            <a:srgbClr val="FDF7EF"/>
          </a:solidFill>
          <a:ln w="10160">
            <a:solidFill>
              <a:srgbClr val="FD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8165592" y="2057400"/>
            <a:ext cx="64008" cy="1874519"/>
          </a:xfrm>
          <a:prstGeom prst="roundRect">
            <a:avLst>
              <a:gd name="adj" fmla="val 8000"/>
            </a:avLst>
          </a:prstGeom>
          <a:solidFill>
            <a:srgbClr val="F29134"/>
          </a:solidFill>
          <a:ln w="10160">
            <a:solidFill>
              <a:srgbClr val="F2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66760" y="2212848"/>
            <a:ext cx="148132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B192B"/>
                </a:solidFill>
                <a:latin typeface="Aptos"/>
              </a:rPr>
              <a:t>Rules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66760" y="2542032"/>
            <a:ext cx="1481328" cy="12710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07180"/>
                </a:solidFill>
                <a:latin typeface="Aptos"/>
              </a:rPr>
              <a:t>Completeness
Consistency
Recommendation logic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186416" y="2057400"/>
            <a:ext cx="1325880" cy="1874519"/>
          </a:xfrm>
          <a:prstGeom prst="roundRect">
            <a:avLst>
              <a:gd name="adj" fmla="val 8000"/>
            </a:avLst>
          </a:prstGeom>
          <a:solidFill>
            <a:srgbClr val="F1F9F4"/>
          </a:solidFill>
          <a:ln w="10160">
            <a:solidFill>
              <a:srgbClr val="F1F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10186416" y="2057400"/>
            <a:ext cx="64008" cy="1874519"/>
          </a:xfrm>
          <a:prstGeom prst="roundRect">
            <a:avLst>
              <a:gd name="adj" fmla="val 8000"/>
            </a:avLst>
          </a:prstGeom>
          <a:solidFill>
            <a:srgbClr val="3E976C"/>
          </a:solidFill>
          <a:ln w="10160">
            <a:solidFill>
              <a:srgbClr val="3E9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387584" y="2212848"/>
            <a:ext cx="978407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B192B"/>
                </a:solidFill>
                <a:latin typeface="Aptos"/>
              </a:rPr>
              <a:t>Human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87584" y="2542032"/>
            <a:ext cx="978407" cy="12710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07180"/>
                </a:solidFill>
                <a:latin typeface="Aptos"/>
              </a:rPr>
              <a:t>Final decision
authority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44768" y="4343400"/>
            <a:ext cx="5367528" cy="923544"/>
          </a:xfrm>
          <a:prstGeom prst="roundRect">
            <a:avLst>
              <a:gd name="adj" fmla="val 8000"/>
            </a:avLst>
          </a:prstGeom>
          <a:solidFill>
            <a:srgbClr val="F7FAFA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00800" y="4517136"/>
            <a:ext cx="1508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B192B"/>
                </a:solidFill>
                <a:latin typeface="Aptos"/>
              </a:rPr>
              <a:t>Traceable handoff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73568" y="4462272"/>
            <a:ext cx="32461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07180"/>
                </a:solidFill>
                <a:latin typeface="Aptos"/>
              </a:rPr>
              <a:t>Findings carry evidence references; extracted fields carry confidence and source spans.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9BA0"/>
                </a:solidFill>
                <a:latin typeface="Aptos"/>
              </a:rPr>
              <a:t>VALIDATION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9848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B192B"/>
                </a:solidFill>
                <a:latin typeface="Aptos Display"/>
              </a:rPr>
              <a:t>Five scenarios exercise the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515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 dirty="0">
                <a:solidFill>
                  <a:srgbClr val="607180"/>
                </a:solidFill>
                <a:latin typeface="Aptos"/>
              </a:rPr>
              <a:t>The sample claims cover completeness, consistency, coverage and risk signals across real evidence patterns in the repository.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73952"/>
            <a:ext cx="914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07180"/>
                </a:solidFill>
                <a:latin typeface="Aptos"/>
              </a:rPr>
              <a:t>UC007  /  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73936"/>
            <a:ext cx="3401568" cy="1426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773936"/>
            <a:ext cx="576072" cy="1426464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221991"/>
            <a:ext cx="33832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1975104"/>
            <a:ext cx="242316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B192B"/>
                </a:solidFill>
                <a:latin typeface="Aptos"/>
              </a:rPr>
              <a:t>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2304288"/>
            <a:ext cx="24231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07180"/>
                </a:solidFill>
                <a:latin typeface="Aptos"/>
              </a:rPr>
              <a:t>All required evidence present; facts align.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6464" y="2807208"/>
            <a:ext cx="1143000" cy="2743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 w="10160">
            <a:solidFill>
              <a:srgbClr val="F1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81328" y="2843784"/>
            <a:ext cx="1033271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009BA0"/>
                </a:solidFill>
                <a:latin typeface="Aptos"/>
              </a:rPr>
              <a:t>PROCEED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1773936"/>
            <a:ext cx="3401568" cy="1426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62272" y="1773936"/>
            <a:ext cx="576072" cy="1426464"/>
          </a:xfrm>
          <a:prstGeom prst="roundRect">
            <a:avLst>
              <a:gd name="adj" fmla="val 8000"/>
            </a:avLst>
          </a:prstGeom>
          <a:solidFill>
            <a:srgbClr val="F29134"/>
          </a:solidFill>
          <a:ln w="10160">
            <a:solidFill>
              <a:srgbClr val="F2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81144" y="2221991"/>
            <a:ext cx="33832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1975104"/>
            <a:ext cx="242316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B192B"/>
                </a:solidFill>
                <a:latin typeface="Aptos"/>
              </a:rPr>
              <a:t>Missing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304288"/>
            <a:ext cx="24231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07180"/>
                </a:solidFill>
                <a:latin typeface="Aptos"/>
              </a:rPr>
              <a:t>Crime reference, statement and photos absent.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30368" y="2807208"/>
            <a:ext cx="1417320" cy="2743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 w="10160">
            <a:solidFill>
              <a:srgbClr val="F1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85231" y="2843784"/>
            <a:ext cx="130759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F29134"/>
                </a:solidFill>
                <a:latin typeface="Aptos"/>
              </a:rPr>
              <a:t>REQUEST INFO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66176" y="1773936"/>
            <a:ext cx="3401568" cy="1426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66176" y="1773936"/>
            <a:ext cx="576072" cy="1426464"/>
          </a:xfrm>
          <a:prstGeom prst="roundRect">
            <a:avLst>
              <a:gd name="adj" fmla="val 8000"/>
            </a:avLst>
          </a:prstGeom>
          <a:solidFill>
            <a:srgbClr val="CE4E4E"/>
          </a:solidFill>
          <a:ln w="10160">
            <a:solidFill>
              <a:srgbClr val="CE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85048" y="2221991"/>
            <a:ext cx="33832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4272" y="1975104"/>
            <a:ext cx="242316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B192B"/>
                </a:solidFill>
                <a:latin typeface="Aptos"/>
              </a:rPr>
              <a:t>Contradictions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2304288"/>
            <a:ext cx="24231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07180"/>
                </a:solidFill>
                <a:latin typeface="Aptos"/>
              </a:rPr>
              <a:t>Date, VIN and damage location disagree.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34272" y="2807208"/>
            <a:ext cx="1417320" cy="2743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 w="10160">
            <a:solidFill>
              <a:srgbClr val="F1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89136" y="2843784"/>
            <a:ext cx="130759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CE4E4E"/>
                </a:solidFill>
                <a:latin typeface="Aptos"/>
              </a:rPr>
              <a:t>REQUEST INFO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621024"/>
            <a:ext cx="3401568" cy="1426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58368" y="3621024"/>
            <a:ext cx="576072" cy="1426464"/>
          </a:xfrm>
          <a:prstGeom prst="roundRect">
            <a:avLst>
              <a:gd name="adj" fmla="val 8000"/>
            </a:avLst>
          </a:prstGeom>
          <a:solidFill>
            <a:srgbClr val="F29134"/>
          </a:solidFill>
          <a:ln w="10160">
            <a:solidFill>
              <a:srgbClr val="F2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4069080"/>
            <a:ext cx="33832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6464" y="3822191"/>
            <a:ext cx="242316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B192B"/>
                </a:solidFill>
                <a:latin typeface="Aptos"/>
              </a:rPr>
              <a:t>Policy exception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26464" y="4151376"/>
            <a:ext cx="24231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07180"/>
                </a:solidFill>
                <a:latin typeface="Aptos"/>
              </a:rPr>
              <a:t>Loss outside cover; estimate over authority.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26464" y="4654296"/>
            <a:ext cx="1143000" cy="2743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 w="10160">
            <a:solidFill>
              <a:srgbClr val="F1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481328" y="4690872"/>
            <a:ext cx="1033271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F29134"/>
                </a:solidFill>
                <a:latin typeface="Aptos"/>
              </a:rPr>
              <a:t>REFER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62272" y="3621024"/>
            <a:ext cx="3401568" cy="1426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462272" y="3621024"/>
            <a:ext cx="576072" cy="1426464"/>
          </a:xfrm>
          <a:prstGeom prst="roundRect">
            <a:avLst>
              <a:gd name="adj" fmla="val 8000"/>
            </a:avLst>
          </a:prstGeom>
          <a:solidFill>
            <a:srgbClr val="CE4E4E"/>
          </a:solidFill>
          <a:ln w="10160">
            <a:solidFill>
              <a:srgbClr val="CE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81144" y="4069080"/>
            <a:ext cx="33832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30368" y="3822191"/>
            <a:ext cx="242316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B192B"/>
                </a:solidFill>
                <a:latin typeface="Aptos"/>
              </a:rPr>
              <a:t>Risk indicators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0368" y="4151376"/>
            <a:ext cx="24231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07180"/>
                </a:solidFill>
                <a:latin typeface="Aptos"/>
              </a:rPr>
              <a:t>Light scuff versus high repair estimate; history signal.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30368" y="4654296"/>
            <a:ext cx="1143000" cy="2743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 w="10160">
            <a:solidFill>
              <a:srgbClr val="F1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85231" y="4690872"/>
            <a:ext cx="1033271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1" i="0">
                <a:solidFill>
                  <a:srgbClr val="CE4E4E"/>
                </a:solidFill>
                <a:latin typeface="Aptos"/>
              </a:rPr>
              <a:t>REFER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833872"/>
            <a:ext cx="1069848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 dirty="0">
                <a:solidFill>
                  <a:srgbClr val="0B192B"/>
                </a:solidFill>
                <a:latin typeface="Aptos"/>
              </a:rPr>
              <a:t>The engine also checks hire-car periods, low-confidence </a:t>
            </a:r>
            <a:r>
              <a:rPr sz="1200" b="1" i="0">
                <a:solidFill>
                  <a:srgbClr val="0B192B"/>
                </a:solidFill>
                <a:latin typeface="Aptos"/>
              </a:rPr>
              <a:t>fields, and duplicate identity.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9BA0"/>
                </a:solidFill>
                <a:latin typeface="Aptos"/>
              </a:rPr>
              <a:t>EXTENSION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9848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B192B"/>
                </a:solidFill>
                <a:latin typeface="Aptos Display"/>
              </a:rPr>
              <a:t>Enhancements Beyond the Base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515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 dirty="0">
                <a:solidFill>
                  <a:srgbClr val="607180"/>
                </a:solidFill>
                <a:latin typeface="Aptos"/>
              </a:rPr>
              <a:t>Three implemented extensions turn a working lab flow into a more defensible operations workspace.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73952"/>
            <a:ext cx="914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07180"/>
                </a:solidFill>
                <a:latin typeface="Aptos"/>
              </a:rPr>
              <a:t>UC007  / 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3657600" cy="4224528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984248"/>
            <a:ext cx="2651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07180"/>
                </a:solidFill>
                <a:latin typeface="Aptos"/>
              </a:rPr>
              <a:t>BASE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13432"/>
            <a:ext cx="2834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0B192B"/>
                </a:solidFill>
                <a:latin typeface="Aptos Display"/>
              </a:rPr>
              <a:t>Core preparation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2935224"/>
            <a:ext cx="73152" cy="73152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33856" y="2862072"/>
            <a:ext cx="2633472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82534"/>
                </a:solidFill>
                <a:latin typeface="Aptos"/>
              </a:rPr>
              <a:t>Mixed evidence ingestion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3328416"/>
            <a:ext cx="73152" cy="73152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33856" y="3255264"/>
            <a:ext cx="2633472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82534"/>
                </a:solidFill>
                <a:latin typeface="Aptos"/>
              </a:rPr>
              <a:t>Document extraction with traceability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3721607"/>
            <a:ext cx="73152" cy="73152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3856" y="3648456"/>
            <a:ext cx="2633472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82534"/>
                </a:solidFill>
                <a:latin typeface="Aptos"/>
              </a:rPr>
              <a:t>Photo assessment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114800"/>
            <a:ext cx="73152" cy="73152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33856" y="4041648"/>
            <a:ext cx="2633472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82534"/>
                </a:solidFill>
                <a:latin typeface="Aptos"/>
              </a:rPr>
              <a:t>Deterministic validation rules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" y="4507992"/>
            <a:ext cx="73152" cy="73152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33856" y="4434840"/>
            <a:ext cx="2633472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82534"/>
                </a:solidFill>
                <a:latin typeface="Aptos"/>
              </a:rPr>
              <a:t>Policy-grounded claim summary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4901183"/>
            <a:ext cx="73152" cy="73152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33856" y="4828031"/>
            <a:ext cx="2633472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82534"/>
                </a:solidFill>
                <a:latin typeface="Aptos"/>
              </a:rPr>
              <a:t>Handler decision workspace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181051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9BA0"/>
                </a:solidFill>
                <a:latin typeface="Aptos"/>
              </a:rPr>
              <a:t>MY ENHANCEMENTS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73168" y="2167128"/>
            <a:ext cx="670255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773168" y="2167128"/>
            <a:ext cx="630936" cy="987552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82896" y="2523744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F1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96128" y="2322576"/>
            <a:ext cx="2240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B192B"/>
                </a:solidFill>
                <a:latin typeface="Aptos"/>
              </a:rPr>
              <a:t>Hire-car invoice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6128" y="2615184"/>
            <a:ext cx="54864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07180"/>
                </a:solidFill>
                <a:latin typeface="Aptos"/>
              </a:rPr>
              <a:t>New analyzer schema plus five period checks: invalid dates, before loss, after repair, too long and day mismatch.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73168" y="3364992"/>
            <a:ext cx="670255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773168" y="3364992"/>
            <a:ext cx="630936" cy="987552"/>
          </a:xfrm>
          <a:prstGeom prst="roundRect">
            <a:avLst>
              <a:gd name="adj" fmla="val 8000"/>
            </a:avLst>
          </a:prstGeom>
          <a:solidFill>
            <a:srgbClr val="F29134"/>
          </a:solidFill>
          <a:ln w="10160">
            <a:solidFill>
              <a:srgbClr val="F2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82896" y="3721608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F5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96128" y="3520440"/>
            <a:ext cx="2240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B192B"/>
                </a:solidFill>
                <a:latin typeface="Aptos"/>
              </a:rPr>
              <a:t>Verification queue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96128" y="3813048"/>
            <a:ext cx="54864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07180"/>
                </a:solidFill>
                <a:latin typeface="Aptos"/>
              </a:rPr>
              <a:t>Critical low-confidence fields are routed to the handler and must be confirmed before a decision.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73168" y="4562856"/>
            <a:ext cx="670255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773168" y="4562856"/>
            <a:ext cx="630936" cy="987552"/>
          </a:xfrm>
          <a:prstGeom prst="roundRect">
            <a:avLst>
              <a:gd name="adj" fmla="val 8000"/>
            </a:avLst>
          </a:prstGeom>
          <a:solidFill>
            <a:srgbClr val="59D3CA"/>
          </a:solidFill>
          <a:ln w="10160">
            <a:solidFill>
              <a:srgbClr val="5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82896" y="4919472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F7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96128" y="4718304"/>
            <a:ext cx="2240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B192B"/>
                </a:solidFill>
                <a:latin typeface="Aptos"/>
              </a:rPr>
              <a:t>Batch metrics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96128" y="5010912"/>
            <a:ext cx="54864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 dirty="0">
                <a:solidFill>
                  <a:srgbClr val="607180"/>
                </a:solidFill>
                <a:latin typeface="Aptos"/>
              </a:rPr>
              <a:t>Persisted claims can be aggregated into operational counts, recommendation mix and drill-down views.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82312" y="5650992"/>
            <a:ext cx="4937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9BA0"/>
                </a:solidFill>
                <a:latin typeface="Aptos"/>
              </a:rPr>
              <a:t>Implemented in backend, frontend, data and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9BA0"/>
                </a:solidFill>
                <a:latin typeface="Aptos"/>
              </a:rPr>
              <a:t>RESPONSIBLE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9848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B192B"/>
                </a:solidFill>
                <a:latin typeface="Aptos Display"/>
              </a:rPr>
              <a:t>Preparation is not adjudication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515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07180"/>
                </a:solidFill>
                <a:latin typeface="Aptos"/>
              </a:rPr>
              <a:t>The system makes evidence visible and reviewable without taking the coverage decision away from authorised staff.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73952"/>
            <a:ext cx="914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07180"/>
                </a:solidFill>
                <a:latin typeface="Aptos"/>
              </a:rPr>
              <a:t>UC007  / 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3749039" cy="2788920"/>
          </a:xfrm>
          <a:prstGeom prst="roundRect">
            <a:avLst>
              <a:gd name="adj" fmla="val 8000"/>
            </a:avLst>
          </a:prstGeom>
          <a:solidFill>
            <a:srgbClr val="0B192B"/>
          </a:solidFill>
          <a:ln w="10160">
            <a:solidFill>
              <a:srgbClr val="0B1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3063240" cy="11155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Aptos Display"/>
              </a:rPr>
              <a:t>Reject Preparation
≠
Reject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493008"/>
            <a:ext cx="3090672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0" i="0">
                <a:solidFill>
                  <a:srgbClr val="BED8DC"/>
                </a:solidFill>
                <a:latin typeface="Aptos"/>
              </a:rPr>
              <a:t>The workspace reviews the quality of preparation only.
Approval, decline and payment remain outside the tool.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764792"/>
            <a:ext cx="60350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07180"/>
                </a:solidFill>
                <a:latin typeface="Aptos"/>
              </a:rPr>
              <a:t>GUARDRAILS IN THE IMPLEMENTATION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2896" y="2157984"/>
            <a:ext cx="6547104" cy="521207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 w="10160">
            <a:solidFill>
              <a:srgbClr val="F1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882896" y="2157984"/>
            <a:ext cx="73152" cy="521207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9784" y="2240279"/>
            <a:ext cx="3017520" cy="1920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B192B"/>
                </a:solidFill>
                <a:latin typeface="Aptos"/>
              </a:rPr>
              <a:t>No automatic approval, denial or payment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240279"/>
            <a:ext cx="2999232" cy="2834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30" b="0" i="0">
                <a:solidFill>
                  <a:srgbClr val="607180"/>
                </a:solidFill>
                <a:latin typeface="Aptos"/>
              </a:rPr>
              <a:t>No such decision endpoint exists in the API.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82896" y="2825496"/>
            <a:ext cx="6547104" cy="521207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 w="10160">
            <a:solidFill>
              <a:srgbClr val="F1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882896" y="2825496"/>
            <a:ext cx="73152" cy="521207"/>
          </a:xfrm>
          <a:prstGeom prst="roundRect">
            <a:avLst>
              <a:gd name="adj" fmla="val 8000"/>
            </a:avLst>
          </a:prstGeom>
          <a:solidFill>
            <a:srgbClr val="CE4E4E"/>
          </a:solidFill>
          <a:ln w="10160">
            <a:solidFill>
              <a:srgbClr val="CE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9784" y="2907791"/>
            <a:ext cx="3017520" cy="1920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B192B"/>
                </a:solidFill>
                <a:latin typeface="Aptos"/>
              </a:rPr>
              <a:t>No fraud accusations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907791"/>
            <a:ext cx="2999232" cy="2834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30" b="0" i="0">
                <a:solidFill>
                  <a:srgbClr val="607180"/>
                </a:solidFill>
                <a:latin typeface="Aptos"/>
              </a:rPr>
              <a:t>Indicators are observations routed for enhanced review.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82896" y="3493008"/>
            <a:ext cx="6547104" cy="521207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 w="10160">
            <a:solidFill>
              <a:srgbClr val="F1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882896" y="3493008"/>
            <a:ext cx="73152" cy="521207"/>
          </a:xfrm>
          <a:prstGeom prst="roundRect">
            <a:avLst>
              <a:gd name="adj" fmla="val 8000"/>
            </a:avLst>
          </a:prstGeom>
          <a:solidFill>
            <a:srgbClr val="59D3CA"/>
          </a:solidFill>
          <a:ln w="10160">
            <a:solidFill>
              <a:srgbClr val="5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9784" y="3575303"/>
            <a:ext cx="3017520" cy="1920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B192B"/>
                </a:solidFill>
                <a:latin typeface="Aptos"/>
              </a:rPr>
              <a:t>Evidence traceability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3575303"/>
            <a:ext cx="2999232" cy="2834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30" b="0" i="0">
                <a:solidFill>
                  <a:srgbClr val="607180"/>
                </a:solidFill>
                <a:latin typeface="Aptos"/>
              </a:rPr>
              <a:t>Findings cite documents and fields; extraction retains source spans.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82896" y="4160520"/>
            <a:ext cx="6547104" cy="521207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 w="10160">
            <a:solidFill>
              <a:srgbClr val="F1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882896" y="4160520"/>
            <a:ext cx="73152" cy="521207"/>
          </a:xfrm>
          <a:prstGeom prst="roundRect">
            <a:avLst>
              <a:gd name="adj" fmla="val 8000"/>
            </a:avLst>
          </a:prstGeom>
          <a:solidFill>
            <a:srgbClr val="F29134"/>
          </a:solidFill>
          <a:ln w="10160">
            <a:solidFill>
              <a:srgbClr val="F2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9784" y="4242816"/>
            <a:ext cx="3017520" cy="1920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B192B"/>
                </a:solidFill>
                <a:latin typeface="Aptos"/>
              </a:rPr>
              <a:t>Policy grounding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4242816"/>
            <a:ext cx="2999232" cy="2834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30" b="0" i="0">
                <a:solidFill>
                  <a:srgbClr val="607180"/>
                </a:solidFill>
                <a:latin typeface="Aptos"/>
              </a:rPr>
              <a:t>The claims agent is grounded on the policy corpus over MCP.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82896" y="4828031"/>
            <a:ext cx="6547104" cy="521207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 w="10160">
            <a:solidFill>
              <a:srgbClr val="F1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882896" y="4828031"/>
            <a:ext cx="73152" cy="521207"/>
          </a:xfrm>
          <a:prstGeom prst="roundRect">
            <a:avLst>
              <a:gd name="adj" fmla="val 8000"/>
            </a:avLst>
          </a:prstGeom>
          <a:solidFill>
            <a:srgbClr val="3E976C"/>
          </a:solidFill>
          <a:ln w="10160">
            <a:solidFill>
              <a:srgbClr val="3E9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9784" y="4910327"/>
            <a:ext cx="3017520" cy="1920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B192B"/>
                </a:solidFill>
                <a:latin typeface="Aptos"/>
              </a:rPr>
              <a:t>Human review required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4910327"/>
            <a:ext cx="2999232" cy="2834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30" b="0" i="0">
                <a:solidFill>
                  <a:srgbClr val="607180"/>
                </a:solidFill>
                <a:latin typeface="Aptos"/>
              </a:rPr>
              <a:t>Low-confidence critical fields block the handler decision until confirmed.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9BA0"/>
                </a:solidFill>
                <a:latin typeface="Aptos"/>
              </a:rPr>
              <a:t>READINESS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9848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B192B"/>
                </a:solidFill>
                <a:latin typeface="Aptos Display"/>
              </a:rPr>
              <a:t>Operational controls are built into the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515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07180"/>
                </a:solidFill>
                <a:latin typeface="Aptos"/>
              </a:rPr>
              <a:t>Implemented controls support repeatable processing, auditability and safe handoff; deployment hardening remains a separate next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73952"/>
            <a:ext cx="914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07180"/>
                </a:solidFill>
                <a:latin typeface="Aptos"/>
              </a:rPr>
              <a:t>UC007  / 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00784"/>
            <a:ext cx="5486400" cy="4462272"/>
          </a:xfrm>
          <a:prstGeom prst="roundRect">
            <a:avLst>
              <a:gd name="adj" fmla="val 8000"/>
            </a:avLst>
          </a:prstGeom>
          <a:solidFill>
            <a:srgbClr val="F7FAFA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965960"/>
            <a:ext cx="21031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9BA0"/>
                </a:solidFill>
                <a:latin typeface="Aptos"/>
              </a:rPr>
              <a:t>IMPLEMENTED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" y="2395728"/>
            <a:ext cx="182880" cy="182880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4692" y="2377440"/>
            <a:ext cx="15544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359152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82534"/>
                </a:solidFill>
                <a:latin typeface="Aptos"/>
              </a:rPr>
              <a:t>Input and upload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2834640"/>
            <a:ext cx="182880" cy="182880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4692" y="2816352"/>
            <a:ext cx="15544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798064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82534"/>
                </a:solidFill>
                <a:latin typeface="Aptos"/>
              </a:rPr>
              <a:t>Per-document error handling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" y="3273552"/>
            <a:ext cx="182880" cy="182880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4692" y="3255264"/>
            <a:ext cx="15544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3236976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82534"/>
                </a:solidFill>
                <a:latin typeface="Aptos"/>
              </a:rPr>
              <a:t>Structured logging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" y="3712463"/>
            <a:ext cx="182880" cy="182880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4692" y="3694175"/>
            <a:ext cx="15544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675887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82534"/>
                </a:solidFill>
                <a:latin typeface="Aptos"/>
              </a:rPr>
              <a:t>Persistent audit 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" y="4151376"/>
            <a:ext cx="182880" cy="182880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4692" y="4133087"/>
            <a:ext cx="15544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411480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82534"/>
                </a:solidFill>
                <a:latin typeface="Aptos"/>
              </a:rPr>
              <a:t>Configuration management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" y="4590288"/>
            <a:ext cx="182880" cy="182880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4692" y="4572000"/>
            <a:ext cx="15544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4553712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82534"/>
                </a:solidFill>
                <a:latin typeface="Aptos"/>
              </a:rPr>
              <a:t>Automated tests and claim scenarios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" y="5029200"/>
            <a:ext cx="182880" cy="182880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4692" y="5010912"/>
            <a:ext cx="15544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4992624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82534"/>
                </a:solidFill>
                <a:latin typeface="Aptos"/>
              </a:rPr>
              <a:t>Human-in-the-loop decisions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37376" y="1700784"/>
            <a:ext cx="5010912" cy="4462272"/>
          </a:xfrm>
          <a:prstGeom prst="roundRect">
            <a:avLst>
              <a:gd name="adj" fmla="val 8000"/>
            </a:avLst>
          </a:prstGeom>
          <a:solidFill>
            <a:srgbClr val="FDF7EF"/>
          </a:solidFill>
          <a:ln w="10160">
            <a:solidFill>
              <a:srgbClr val="F4D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11696" y="1965960"/>
            <a:ext cx="43891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29134"/>
                </a:solidFill>
                <a:latin typeface="Aptos"/>
              </a:rPr>
              <a:t>FUTURE DEPLOYMENT ENHANCEMENTS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29984" y="2395728"/>
            <a:ext cx="182880" cy="182880"/>
          </a:xfrm>
          <a:prstGeom prst="roundRect">
            <a:avLst>
              <a:gd name="adj" fmla="val 8000"/>
            </a:avLst>
          </a:prstGeom>
          <a:solidFill>
            <a:srgbClr val="F29134"/>
          </a:solidFill>
          <a:ln w="10160">
            <a:solidFill>
              <a:srgbClr val="F2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52844" y="2372868"/>
            <a:ext cx="1371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77456" y="2359152"/>
            <a:ext cx="3840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82534"/>
                </a:solidFill>
                <a:latin typeface="Aptos"/>
              </a:rPr>
              <a:t>Authentication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29984" y="2962656"/>
            <a:ext cx="182880" cy="182880"/>
          </a:xfrm>
          <a:prstGeom prst="roundRect">
            <a:avLst>
              <a:gd name="adj" fmla="val 8000"/>
            </a:avLst>
          </a:prstGeom>
          <a:solidFill>
            <a:srgbClr val="F29134"/>
          </a:solidFill>
          <a:ln w="10160">
            <a:solidFill>
              <a:srgbClr val="F2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52844" y="2939796"/>
            <a:ext cx="1371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77456" y="2926080"/>
            <a:ext cx="3840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82534"/>
                </a:solidFill>
                <a:latin typeface="Aptos"/>
              </a:rPr>
              <a:t>Role-based access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29984" y="3529584"/>
            <a:ext cx="182880" cy="182880"/>
          </a:xfrm>
          <a:prstGeom prst="roundRect">
            <a:avLst>
              <a:gd name="adj" fmla="val 8000"/>
            </a:avLst>
          </a:prstGeom>
          <a:solidFill>
            <a:srgbClr val="F29134"/>
          </a:solidFill>
          <a:ln w="10160">
            <a:solidFill>
              <a:srgbClr val="F2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52844" y="3506724"/>
            <a:ext cx="1371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77456" y="3493008"/>
            <a:ext cx="3840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82534"/>
                </a:solidFill>
                <a:latin typeface="Aptos"/>
              </a:rPr>
              <a:t>Monitoring and alerts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29984" y="4096511"/>
            <a:ext cx="182880" cy="182880"/>
          </a:xfrm>
          <a:prstGeom prst="roundRect">
            <a:avLst>
              <a:gd name="adj" fmla="val 8000"/>
            </a:avLst>
          </a:prstGeom>
          <a:solidFill>
            <a:srgbClr val="F29134"/>
          </a:solidFill>
          <a:ln w="10160">
            <a:solidFill>
              <a:srgbClr val="F2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52844" y="4073651"/>
            <a:ext cx="1371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4059935"/>
            <a:ext cx="3840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82534"/>
                </a:solidFill>
                <a:latin typeface="Aptos"/>
              </a:rPr>
              <a:t>Production database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729984" y="4663440"/>
            <a:ext cx="182880" cy="182880"/>
          </a:xfrm>
          <a:prstGeom prst="roundRect">
            <a:avLst>
              <a:gd name="adj" fmla="val 8000"/>
            </a:avLst>
          </a:prstGeom>
          <a:solidFill>
            <a:srgbClr val="F29134"/>
          </a:solidFill>
          <a:ln w="10160">
            <a:solidFill>
              <a:srgbClr val="F2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752844" y="4640580"/>
            <a:ext cx="1371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77456" y="4626864"/>
            <a:ext cx="3840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82534"/>
                </a:solidFill>
                <a:latin typeface="Aptos"/>
              </a:rPr>
              <a:t>Secrets management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" y="5742432"/>
            <a:ext cx="1828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9BA0"/>
                </a:solidFill>
                <a:latin typeface="Aptos"/>
              </a:rPr>
              <a:t>Implemented today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9984" y="5742432"/>
            <a:ext cx="1828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29134"/>
                </a:solidFill>
                <a:latin typeface="Aptos"/>
              </a:rPr>
              <a:t>Hardening next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9BA0"/>
                </a:solidFill>
                <a:latin typeface="Aptos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9848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B192B"/>
                </a:solidFill>
                <a:latin typeface="Aptos Display"/>
              </a:rPr>
              <a:t>A foundation for explainable claims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515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07180"/>
                </a:solidFill>
                <a:latin typeface="Aptos"/>
              </a:rPr>
              <a:t>The architecture is extensible, the controls are visible, and the final decision stays with people.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73952"/>
            <a:ext cx="914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07180"/>
                </a:solidFill>
                <a:latin typeface="Aptos"/>
              </a:rPr>
              <a:t>UC007  / 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64792"/>
            <a:ext cx="4937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07180"/>
                </a:solidFill>
                <a:latin typeface="Aptos"/>
              </a:rPr>
              <a:t>OUTCOMES FROM THE IMPLEMENTED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48840"/>
            <a:ext cx="51663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82296" cy="438912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2"/>
            <a:ext cx="1737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B192B"/>
                </a:solidFill>
                <a:latin typeface="Aptos"/>
              </a:rPr>
              <a:t>Faster 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2221992"/>
            <a:ext cx="2761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30" b="0" i="0">
                <a:solidFill>
                  <a:srgbClr val="607180"/>
                </a:solidFill>
                <a:latin typeface="Aptos"/>
              </a:rPr>
              <a:t>Evidence is assembled into a handler-ready 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15768"/>
            <a:ext cx="51663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5800" y="2715768"/>
            <a:ext cx="82296" cy="438912"/>
          </a:xfrm>
          <a:prstGeom prst="roundRect">
            <a:avLst>
              <a:gd name="adj" fmla="val 8000"/>
            </a:avLst>
          </a:prstGeom>
          <a:solidFill>
            <a:srgbClr val="F29134"/>
          </a:solidFill>
          <a:ln w="10160">
            <a:solidFill>
              <a:srgbClr val="F2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788920"/>
            <a:ext cx="1737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B192B"/>
                </a:solidFill>
                <a:latin typeface="Aptos"/>
              </a:rPr>
              <a:t>Improved consistency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2788920"/>
            <a:ext cx="2761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30" b="0" i="0">
                <a:solidFill>
                  <a:srgbClr val="607180"/>
                </a:solidFill>
                <a:latin typeface="Aptos"/>
              </a:rPr>
              <a:t>The same deterministic checks run across claims.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82696"/>
            <a:ext cx="51663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5800" y="3282696"/>
            <a:ext cx="82296" cy="438912"/>
          </a:xfrm>
          <a:prstGeom prst="roundRect">
            <a:avLst>
              <a:gd name="adj" fmla="val 8000"/>
            </a:avLst>
          </a:prstGeom>
          <a:solidFill>
            <a:srgbClr val="59D3CA"/>
          </a:solidFill>
          <a:ln w="10160">
            <a:solidFill>
              <a:srgbClr val="5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355848"/>
            <a:ext cx="1737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B192B"/>
                </a:solidFill>
                <a:latin typeface="Aptos"/>
              </a:rPr>
              <a:t>Explainable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2928" y="3355848"/>
            <a:ext cx="2761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30" b="0" i="0">
                <a:solidFill>
                  <a:srgbClr val="607180"/>
                </a:solidFill>
                <a:latin typeface="Aptos"/>
              </a:rPr>
              <a:t>Every finding points back to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49624"/>
            <a:ext cx="51663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85800" y="3849624"/>
            <a:ext cx="82296" cy="438912"/>
          </a:xfrm>
          <a:prstGeom prst="roundRect">
            <a:avLst>
              <a:gd name="adj" fmla="val 8000"/>
            </a:avLst>
          </a:prstGeom>
          <a:solidFill>
            <a:srgbClr val="3E976C"/>
          </a:solidFill>
          <a:ln w="10160">
            <a:solidFill>
              <a:srgbClr val="3E9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922776"/>
            <a:ext cx="1737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B192B"/>
                </a:solidFill>
                <a:latin typeface="Aptos"/>
              </a:rPr>
              <a:t>Human oversight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2928" y="3922776"/>
            <a:ext cx="2761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30" b="0" i="0">
                <a:solidFill>
                  <a:srgbClr val="607180"/>
                </a:solidFill>
                <a:latin typeface="Aptos"/>
              </a:rPr>
              <a:t>Authorised staff confirm and record the decision.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416552"/>
            <a:ext cx="51663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85800" y="4416552"/>
            <a:ext cx="82296" cy="438912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4489704"/>
            <a:ext cx="1737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B192B"/>
                </a:solidFill>
                <a:latin typeface="Aptos"/>
              </a:rPr>
              <a:t>Extensible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2928" y="4489704"/>
            <a:ext cx="2761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30" b="0" i="0">
                <a:solidFill>
                  <a:srgbClr val="607180"/>
                </a:solidFill>
                <a:latin typeface="Aptos"/>
              </a:rPr>
              <a:t>New evidence types and operational views fit the pipeline.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1755648"/>
            <a:ext cx="5047488" cy="3364992"/>
          </a:xfrm>
          <a:prstGeom prst="roundRect">
            <a:avLst>
              <a:gd name="adj" fmla="val 8000"/>
            </a:avLst>
          </a:prstGeom>
          <a:solidFill>
            <a:srgbClr val="0B192B"/>
          </a:solidFill>
          <a:ln w="10160">
            <a:solidFill>
              <a:srgbClr val="0B1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20840" y="2029968"/>
            <a:ext cx="1554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9D3CA"/>
                </a:solidFill>
                <a:latin typeface="Aptos"/>
              </a:rPr>
              <a:t>ROADMAP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39128" y="2532888"/>
            <a:ext cx="182880" cy="182880"/>
          </a:xfrm>
          <a:prstGeom prst="roundRect">
            <a:avLst>
              <a:gd name="adj" fmla="val 8000"/>
            </a:avLst>
          </a:prstGeom>
          <a:solidFill>
            <a:srgbClr val="F29134"/>
          </a:solidFill>
          <a:ln w="10160">
            <a:solidFill>
              <a:srgbClr val="F2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48272" y="2505456"/>
            <a:ext cx="1645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496312"/>
            <a:ext cx="3749039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ptos"/>
              </a:rPr>
              <a:t>Additional document types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39128" y="3044952"/>
            <a:ext cx="182880" cy="182880"/>
          </a:xfrm>
          <a:prstGeom prst="roundRect">
            <a:avLst>
              <a:gd name="adj" fmla="val 8000"/>
            </a:avLst>
          </a:prstGeom>
          <a:solidFill>
            <a:srgbClr val="F29134"/>
          </a:solidFill>
          <a:ln w="10160">
            <a:solidFill>
              <a:srgbClr val="F2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48272" y="3017520"/>
            <a:ext cx="1645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008376"/>
            <a:ext cx="3749039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ptos"/>
              </a:rPr>
              <a:t>Cross-claim analytics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39128" y="3557016"/>
            <a:ext cx="182880" cy="182880"/>
          </a:xfrm>
          <a:prstGeom prst="roundRect">
            <a:avLst>
              <a:gd name="adj" fmla="val 8000"/>
            </a:avLst>
          </a:prstGeom>
          <a:solidFill>
            <a:srgbClr val="F29134"/>
          </a:solidFill>
          <a:ln w="10160">
            <a:solidFill>
              <a:srgbClr val="F2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48272" y="3529584"/>
            <a:ext cx="1645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3520440"/>
            <a:ext cx="3749039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ptos"/>
              </a:rPr>
              <a:t>Advanced dashboards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39128" y="4069080"/>
            <a:ext cx="182880" cy="182880"/>
          </a:xfrm>
          <a:prstGeom prst="roundRect">
            <a:avLst>
              <a:gd name="adj" fmla="val 8000"/>
            </a:avLst>
          </a:prstGeom>
          <a:solidFill>
            <a:srgbClr val="F29134"/>
          </a:solidFill>
          <a:ln w="10160">
            <a:solidFill>
              <a:srgbClr val="F2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48272" y="4041648"/>
            <a:ext cx="1645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4032504"/>
            <a:ext cx="3749039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ptos"/>
              </a:rPr>
              <a:t>Enterprise deployment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5724144"/>
            <a:ext cx="10762488" cy="603504"/>
          </a:xfrm>
          <a:prstGeom prst="roundRect">
            <a:avLst>
              <a:gd name="adj" fmla="val 8000"/>
            </a:avLst>
          </a:prstGeom>
          <a:solidFill>
            <a:srgbClr val="E7F6F5"/>
          </a:solidFill>
          <a:ln w="10160">
            <a:solidFill>
              <a:srgbClr val="C2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4400" y="5888736"/>
            <a:ext cx="1028700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0B192B"/>
                </a:solidFill>
                <a:latin typeface="Aptos Display"/>
              </a:rPr>
              <a:t>AI prepares. Rules validate. Humans decide.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57784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00" b="1">
                <a:solidFill>
                  <a:srgbClr val="009BA0"/>
                </a:solidFill>
                <a:latin typeface="Aptos"/>
              </a:rPr>
              <a:t>MY ENHANCEMENT  /  HANDLER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98480" cy="512064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800" b="1">
                <a:solidFill>
                  <a:srgbClr val="0B192B"/>
                </a:solidFill>
                <a:latin typeface="Aptos Display"/>
              </a:rPr>
              <a:t>A claim moves through visible work queues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51560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0">
                <a:solidFill>
                  <a:srgbClr val="607180"/>
                </a:solidFill>
                <a:latin typeface="Aptos"/>
              </a:rPr>
              <a:t>Submission, decision, missing evidence and duplicate handling are connected in the workspace.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84248"/>
            <a:ext cx="2240280" cy="1527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984248"/>
            <a:ext cx="100584" cy="1527048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7" y="2185416"/>
            <a:ext cx="365760" cy="365760"/>
          </a:xfrm>
          <a:prstGeom prst="roundRect">
            <a:avLst>
              <a:gd name="adj" fmla="val 8000"/>
            </a:avLst>
          </a:prstGeom>
          <a:solidFill>
            <a:srgbClr val="009BA0"/>
          </a:solidFill>
          <a:ln w="10160">
            <a:solidFill>
              <a:srgbClr val="009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258568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157984"/>
            <a:ext cx="1353312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50" b="1">
                <a:solidFill>
                  <a:srgbClr val="0B192B"/>
                </a:solidFill>
                <a:latin typeface="Aptos"/>
              </a:rPr>
              <a:t>Submit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761488"/>
            <a:ext cx="1874519" cy="420624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100" b="0">
                <a:solidFill>
                  <a:srgbClr val="607180"/>
                </a:solidFill>
                <a:latin typeface="Aptos"/>
              </a:rPr>
              <a:t>New claim or
add evidence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44368" y="2743200"/>
            <a:ext cx="384048" cy="0"/>
          </a:xfrm>
          <a:prstGeom prst="line">
            <a:avLst/>
          </a:prstGeom>
          <a:ln w="25400">
            <a:solidFill>
              <a:srgbClr val="009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063239" y="2606040"/>
            <a:ext cx="2286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500" b="1">
                <a:solidFill>
                  <a:srgbClr val="009BA0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984248"/>
            <a:ext cx="2240280" cy="1527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01568" y="1984248"/>
            <a:ext cx="100584" cy="1527048"/>
          </a:xfrm>
          <a:prstGeom prst="roundRect">
            <a:avLst>
              <a:gd name="adj" fmla="val 8000"/>
            </a:avLst>
          </a:prstGeom>
          <a:solidFill>
            <a:srgbClr val="59D3CA"/>
          </a:solidFill>
          <a:ln w="10160">
            <a:solidFill>
              <a:srgbClr val="5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584448" y="2185416"/>
            <a:ext cx="365760" cy="365760"/>
          </a:xfrm>
          <a:prstGeom prst="roundRect">
            <a:avLst>
              <a:gd name="adj" fmla="val 8000"/>
            </a:avLst>
          </a:prstGeom>
          <a:solidFill>
            <a:srgbClr val="59D3CA"/>
          </a:solidFill>
          <a:ln w="10160">
            <a:solidFill>
              <a:srgbClr val="5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84448" y="2258568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7368" y="2157984"/>
            <a:ext cx="1353312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50" b="1">
                <a:solidFill>
                  <a:srgbClr val="0B192B"/>
                </a:solidFill>
                <a:latin typeface="Aptos"/>
              </a:rPr>
              <a:t>Awaiting handler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2736" y="2761488"/>
            <a:ext cx="1874519" cy="420624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100" b="0">
                <a:solidFill>
                  <a:srgbClr val="607180"/>
                </a:solidFill>
                <a:latin typeface="Aptos"/>
              </a:rPr>
              <a:t>Prepared claim
ready for review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87568" y="2743200"/>
            <a:ext cx="384048" cy="0"/>
          </a:xfrm>
          <a:prstGeom prst="line">
            <a:avLst/>
          </a:prstGeom>
          <a:ln w="25400">
            <a:solidFill>
              <a:srgbClr val="009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806440" y="2606040"/>
            <a:ext cx="2286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500" b="1">
                <a:solidFill>
                  <a:srgbClr val="009BA0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984248"/>
            <a:ext cx="2240280" cy="1527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44768" y="1984248"/>
            <a:ext cx="100584" cy="1527048"/>
          </a:xfrm>
          <a:prstGeom prst="roundRect">
            <a:avLst>
              <a:gd name="adj" fmla="val 8000"/>
            </a:avLst>
          </a:prstGeom>
          <a:solidFill>
            <a:srgbClr val="F29134"/>
          </a:solidFill>
          <a:ln w="10160">
            <a:solidFill>
              <a:srgbClr val="F2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27648" y="2185416"/>
            <a:ext cx="365760" cy="365760"/>
          </a:xfrm>
          <a:prstGeom prst="roundRect">
            <a:avLst>
              <a:gd name="adj" fmla="val 8000"/>
            </a:avLst>
          </a:prstGeom>
          <a:solidFill>
            <a:srgbClr val="F29134"/>
          </a:solidFill>
          <a:ln w="10160">
            <a:solidFill>
              <a:srgbClr val="F2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27648" y="2258568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2157984"/>
            <a:ext cx="1353312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50" b="1">
                <a:solidFill>
                  <a:srgbClr val="0B192B"/>
                </a:solidFill>
                <a:latin typeface="Aptos"/>
              </a:rPr>
              <a:t>Handler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2761488"/>
            <a:ext cx="1874519" cy="420624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100" b="0">
                <a:solidFill>
                  <a:srgbClr val="607180"/>
                </a:solidFill>
                <a:latin typeface="Aptos"/>
              </a:rPr>
              <a:t>Accept / reject /
request information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30767" y="2743200"/>
            <a:ext cx="384049" cy="0"/>
          </a:xfrm>
          <a:prstGeom prst="line">
            <a:avLst/>
          </a:prstGeom>
          <a:ln w="25400">
            <a:solidFill>
              <a:srgbClr val="009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549640" y="2606040"/>
            <a:ext cx="2286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500" b="1">
                <a:solidFill>
                  <a:srgbClr val="009BA0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984248"/>
            <a:ext cx="2240280" cy="1527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887968" y="1984248"/>
            <a:ext cx="100584" cy="1527048"/>
          </a:xfrm>
          <a:prstGeom prst="roundRect">
            <a:avLst>
              <a:gd name="adj" fmla="val 8000"/>
            </a:avLst>
          </a:prstGeom>
          <a:solidFill>
            <a:srgbClr val="3E976C"/>
          </a:solidFill>
          <a:ln w="10160">
            <a:solidFill>
              <a:srgbClr val="3E9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070848" y="2185416"/>
            <a:ext cx="365760" cy="365760"/>
          </a:xfrm>
          <a:prstGeom prst="roundRect">
            <a:avLst>
              <a:gd name="adj" fmla="val 8000"/>
            </a:avLst>
          </a:prstGeom>
          <a:solidFill>
            <a:srgbClr val="3E976C"/>
          </a:solidFill>
          <a:ln w="10160">
            <a:solidFill>
              <a:srgbClr val="3E9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70848" y="2258568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3768" y="2157984"/>
            <a:ext cx="1353312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50" b="1">
                <a:solidFill>
                  <a:srgbClr val="0B192B"/>
                </a:solidFill>
                <a:latin typeface="Aptos"/>
              </a:rPr>
              <a:t>Request information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89136" y="2761488"/>
            <a:ext cx="1874519" cy="420624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100" b="0">
                <a:solidFill>
                  <a:srgbClr val="607180"/>
                </a:solidFill>
                <a:latin typeface="Aptos"/>
              </a:rPr>
              <a:t>Upload missing docs
for the same claim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56448" y="4005072"/>
            <a:ext cx="2999232" cy="868680"/>
          </a:xfrm>
          <a:prstGeom prst="roundRect">
            <a:avLst>
              <a:gd name="adj" fmla="val 8000"/>
            </a:avLst>
          </a:prstGeom>
          <a:solidFill>
            <a:srgbClr val="E7F6F5"/>
          </a:solidFill>
          <a:ln w="10160">
            <a:solidFill>
              <a:srgbClr val="C2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75904" y="4178808"/>
            <a:ext cx="960120" cy="2011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1">
                <a:solidFill>
                  <a:srgbClr val="0B192B"/>
                </a:solidFill>
                <a:latin typeface="Aptos"/>
              </a:rPr>
              <a:t>Re-process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4123944"/>
            <a:ext cx="1517904" cy="3566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19" b="0">
                <a:solidFill>
                  <a:srgbClr val="607180"/>
                </a:solidFill>
                <a:latin typeface="Aptos"/>
              </a:rPr>
              <a:t>After documents are uploaded, the claim returns to handler review.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012680" y="3520440"/>
            <a:ext cx="0" cy="448056"/>
          </a:xfrm>
          <a:prstGeom prst="line">
            <a:avLst/>
          </a:prstGeom>
          <a:ln w="20320">
            <a:solidFill>
              <a:srgbClr val="009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4526280" y="4443984"/>
            <a:ext cx="3630168" cy="0"/>
          </a:xfrm>
          <a:prstGeom prst="line">
            <a:avLst/>
          </a:prstGeom>
          <a:ln w="20320">
            <a:solidFill>
              <a:srgbClr val="009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33672" y="4297680"/>
            <a:ext cx="2286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600" b="1">
                <a:solidFill>
                  <a:srgbClr val="009BA0"/>
                </a:solidFill>
                <a:latin typeface="Aptos"/>
              </a:rPr>
              <a:t>↩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4526280" y="3557016"/>
            <a:ext cx="0" cy="886968"/>
          </a:xfrm>
          <a:prstGeom prst="line">
            <a:avLst/>
          </a:prstGeom>
          <a:ln w="20320">
            <a:solidFill>
              <a:srgbClr val="009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85800" y="4041648"/>
            <a:ext cx="2743200" cy="2011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>
                <a:solidFill>
                  <a:srgbClr val="607180"/>
                </a:solidFill>
                <a:latin typeface="Aptos"/>
              </a:rPr>
              <a:t>DECISION DESTINATIONS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4407408"/>
            <a:ext cx="1261872" cy="36576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 w="10160">
            <a:solidFill>
              <a:srgbClr val="F1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85800" y="4407408"/>
            <a:ext cx="73152" cy="365760"/>
          </a:xfrm>
          <a:prstGeom prst="roundRect">
            <a:avLst>
              <a:gd name="adj" fmla="val 8000"/>
            </a:avLst>
          </a:prstGeom>
          <a:solidFill>
            <a:srgbClr val="3E976C"/>
          </a:solidFill>
          <a:ln w="10160">
            <a:solidFill>
              <a:srgbClr val="3E9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3816" y="4434840"/>
            <a:ext cx="1042415" cy="1645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950" b="1" dirty="0">
                <a:solidFill>
                  <a:srgbClr val="182534"/>
                </a:solidFill>
                <a:latin typeface="Aptos"/>
              </a:rPr>
              <a:t>Accepted preparations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48840" y="4407408"/>
            <a:ext cx="1261872" cy="36576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 w="10160">
            <a:solidFill>
              <a:srgbClr val="F1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2148840" y="4407408"/>
            <a:ext cx="73152" cy="365760"/>
          </a:xfrm>
          <a:prstGeom prst="roundRect">
            <a:avLst>
              <a:gd name="adj" fmla="val 8000"/>
            </a:avLst>
          </a:prstGeom>
          <a:solidFill>
            <a:srgbClr val="CE4E4E"/>
          </a:solidFill>
          <a:ln w="10160">
            <a:solidFill>
              <a:srgbClr val="CE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286000" y="4434840"/>
            <a:ext cx="1042415" cy="1645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950" b="1" dirty="0">
                <a:solidFill>
                  <a:srgbClr val="182534"/>
                </a:solidFill>
                <a:latin typeface="Aptos"/>
              </a:rPr>
              <a:t>Rejected preparations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57600" y="4407408"/>
            <a:ext cx="1261872" cy="36576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 w="10160">
            <a:solidFill>
              <a:srgbClr val="F1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3657600" y="4407408"/>
            <a:ext cx="73152" cy="365760"/>
          </a:xfrm>
          <a:prstGeom prst="roundRect">
            <a:avLst>
              <a:gd name="adj" fmla="val 8000"/>
            </a:avLst>
          </a:prstGeom>
          <a:solidFill>
            <a:srgbClr val="607180"/>
          </a:solidFill>
          <a:ln w="10160">
            <a:solidFill>
              <a:srgbClr val="607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794760" y="4498848"/>
            <a:ext cx="1042415" cy="1645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950" b="1">
                <a:solidFill>
                  <a:srgbClr val="182534"/>
                </a:solidFill>
                <a:latin typeface="Aptos"/>
              </a:rPr>
              <a:t>Archive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5800" y="5230368"/>
            <a:ext cx="10744200" cy="731520"/>
          </a:xfrm>
          <a:prstGeom prst="roundRect">
            <a:avLst>
              <a:gd name="adj" fmla="val 8000"/>
            </a:avLst>
          </a:prstGeom>
          <a:solidFill>
            <a:srgbClr val="FDF7EF"/>
          </a:solidFill>
          <a:ln w="10160">
            <a:solidFill>
              <a:srgbClr val="F4D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32688" y="5449824"/>
            <a:ext cx="12344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00" b="1">
                <a:solidFill>
                  <a:srgbClr val="F29134"/>
                </a:solidFill>
                <a:latin typeface="Aptos"/>
              </a:rPr>
              <a:t>DUPLICATE GUARD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59152" y="5385816"/>
            <a:ext cx="864108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00" b="0">
                <a:solidFill>
                  <a:srgbClr val="182534"/>
                </a:solidFill>
                <a:latin typeface="Aptos"/>
              </a:rPr>
              <a:t>A claim ID already used for a prepared or decided claim cannot be submitted again. Matching policy, vehicle and loss date routes a potential duplicate to handler review.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16768" y="6473952"/>
            <a:ext cx="91440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800" b="1">
                <a:solidFill>
                  <a:srgbClr val="607180"/>
                </a:solidFill>
                <a:latin typeface="Aptos"/>
              </a:rPr>
              <a:t>UC007  / 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916</Words>
  <Application>Microsoft Office PowerPoint</Application>
  <PresentationFormat>Widescreen</PresentationFormat>
  <Paragraphs>214</Paragraphs>
  <Slides>9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PRIYANKA KARUPPUSAMY</cp:lastModifiedBy>
  <cp:revision>1</cp:revision>
  <dcterms:created xsi:type="dcterms:W3CDTF">2013-01-27T09:14:16Z</dcterms:created>
  <dcterms:modified xsi:type="dcterms:W3CDTF">2026-09-29T10:33:59Z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8c544ca-bb84-4280-906e-934547e1d30c_Enabled">
    <vt:lpwstr>True</vt:lpwstr>
  </property>
  <property fmtid="{D5CDD505-2E9C-101B-9397-08002B2CF9AE}" pid="3" name="MSIP_Label_a8c544ca-bb84-4280-906e-934547e1d30c_SiteId">
    <vt:lpwstr>258ac4e4-146a-411e-9dc8-79a9e12fd6da</vt:lpwstr>
  </property>
  <property fmtid="{D5CDD505-2E9C-101B-9397-08002B2CF9AE}" pid="4" name="MSIP_Label_a8c544ca-bb84-4280-906e-934547e1d30c_SetDate">
    <vt:lpwstr>2026-09-29T05:09:21Z</vt:lpwstr>
  </property>
  <property fmtid="{D5CDD505-2E9C-101B-9397-08002B2CF9AE}" pid="5" name="MSIP_Label_a8c544ca-bb84-4280-906e-934547e1d30c_Name">
    <vt:lpwstr>Internal - General Use</vt:lpwstr>
  </property>
  <property fmtid="{D5CDD505-2E9C-101B-9397-08002B2CF9AE}" pid="6" name="MSIP_Label_a8c544ca-bb84-4280-906e-934547e1d30c_ActionId">
    <vt:lpwstr>39059672-1da8-4a52-a8eb-ed34b7ceb34b</vt:lpwstr>
  </property>
  <property fmtid="{D5CDD505-2E9C-101B-9397-08002B2CF9AE}" pid="7" name="MSIP_Label_a8c544ca-bb84-4280-906e-934547e1d30c_Removed">
    <vt:lpwstr>False</vt:lpwstr>
  </property>
  <property fmtid="{D5CDD505-2E9C-101B-9397-08002B2CF9AE}" pid="8" name="MSIP_Label_a8c544ca-bb84-4280-906e-934547e1d30c_Extended_MSFT_Method">
    <vt:lpwstr>Standard</vt:lpwstr>
  </property>
  <property fmtid="{D5CDD505-2E9C-101B-9397-08002B2CF9AE}" pid="9" name="Sensitivity">
    <vt:lpwstr>Internal - General Use</vt:lpwstr>
  </property>
</Properties>
</file>